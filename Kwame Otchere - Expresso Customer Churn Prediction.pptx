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61" r:id="rId7"/>
    <p:sldId id="268" r:id="rId8"/>
    <p:sldId id="266" r:id="rId9"/>
    <p:sldId id="26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704" autoAdjust="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4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AAB02E-9317-6AC6-F21A-FEC0119C69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059B4-BF1A-4CE5-AD6F-DBCD3D67DA4F}" type="datetimeFigureOut">
              <a:rPr lang="en-GB" smtClean="0"/>
              <a:t>14/03/2023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EXPRESSO CUSTOMER CHURN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Expresso Customer Churn Prediction</a:t>
            </a:r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75AC9E-A731-7430-9C4F-0763E6AA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44120" cy="592974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C94823A-797F-22AE-6C7A-31AAE23B2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63" y="4830618"/>
            <a:ext cx="9473594" cy="1169769"/>
          </a:xfrm>
        </p:spPr>
        <p:txBody>
          <a:bodyPr/>
          <a:lstStyle/>
          <a:p>
            <a:r>
              <a:rPr lang="en-US" dirty="0"/>
              <a:t>EXPRESSO CUSTOMER CHURN PREDICTION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49337E8-34DC-D80E-7ED5-53FEED2C6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9162" y="6030235"/>
            <a:ext cx="9473594" cy="396660"/>
          </a:xfrm>
        </p:spPr>
        <p:txBody>
          <a:bodyPr>
            <a:normAutofit/>
          </a:bodyPr>
          <a:lstStyle/>
          <a:p>
            <a:r>
              <a:rPr lang="en-US" dirty="0"/>
              <a:t>Kwame Odoi Otchere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455" y="1625600"/>
            <a:ext cx="5596370" cy="1250951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455" y="3509819"/>
            <a:ext cx="7019636" cy="26416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Expresso is an African telco that provides customers with airtime and mobile data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Objective:</a:t>
            </a:r>
            <a:r>
              <a:rPr lang="en-US" sz="1800" dirty="0"/>
              <a:t> to develop a machine learning model to predict the chances that a customer will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project will also help Expresso understand and serve their customers better to reduce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project was guided by the </a:t>
            </a:r>
            <a:r>
              <a:rPr lang="en-US" sz="1800" b="1" dirty="0"/>
              <a:t>CRISP-DM Framework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1C395-6BC4-4F00-B40B-069DBBB7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3" y="1117599"/>
            <a:ext cx="2882475" cy="480291"/>
          </a:xfrm>
        </p:spPr>
        <p:txBody>
          <a:bodyPr/>
          <a:lstStyle/>
          <a:p>
            <a:r>
              <a:rPr lang="en-US" b="1" dirty="0"/>
              <a:t>REGULARITY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16151-9486-4A03-AE3A-F1CC562E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3" y="1689963"/>
            <a:ext cx="2882475" cy="2167730"/>
          </a:xfrm>
        </p:spPr>
        <p:txBody>
          <a:bodyPr>
            <a:normAutofit/>
          </a:bodyPr>
          <a:lstStyle/>
          <a:p>
            <a:r>
              <a:rPr lang="en-US" sz="1800" dirty="0"/>
              <a:t>Customers who were active for 10 days or more were more likely to stay. </a:t>
            </a:r>
          </a:p>
          <a:p>
            <a:r>
              <a:rPr lang="en-US" sz="1800" dirty="0"/>
              <a:t>Increase customer activity beyond 10 days to reduce risk of churn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59236-37DD-4582-A2A0-3F9A13A3B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4" y="1117599"/>
            <a:ext cx="3101645" cy="480291"/>
          </a:xfrm>
        </p:spPr>
        <p:txBody>
          <a:bodyPr/>
          <a:lstStyle/>
          <a:p>
            <a:r>
              <a:rPr lang="en-US" b="1" dirty="0"/>
              <a:t>TOP PACK FREQUENCY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CCF0F-F0BB-42D7-B3C2-C29336739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4" y="1693071"/>
            <a:ext cx="2896671" cy="2167730"/>
          </a:xfrm>
        </p:spPr>
        <p:txBody>
          <a:bodyPr>
            <a:normAutofit/>
          </a:bodyPr>
          <a:lstStyle/>
          <a:p>
            <a:r>
              <a:rPr lang="en-US" sz="1800" dirty="0"/>
              <a:t>Customers with high top pack frequencies churned less.</a:t>
            </a:r>
          </a:p>
          <a:p>
            <a:r>
              <a:rPr lang="en-US" sz="1800" dirty="0"/>
              <a:t>Improve top packages to increase frequency of purchases and reduce churn levels indirectly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939793-2181-4A3D-9C5A-CE676CC83EC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71395" y="1108362"/>
            <a:ext cx="2882475" cy="480291"/>
          </a:xfrm>
        </p:spPr>
        <p:txBody>
          <a:bodyPr/>
          <a:lstStyle/>
          <a:p>
            <a:r>
              <a:rPr lang="en-US" b="1" dirty="0"/>
              <a:t>CORRELATION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FA0B0D-7B36-4D63-86BD-20E6E1B6A0D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71395" y="1671196"/>
            <a:ext cx="2882475" cy="2186498"/>
          </a:xfrm>
        </p:spPr>
        <p:txBody>
          <a:bodyPr>
            <a:normAutofit/>
          </a:bodyPr>
          <a:lstStyle/>
          <a:p>
            <a:r>
              <a:rPr lang="en-US" sz="1800" dirty="0"/>
              <a:t>No column had a positive correlation with churn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E81C1E-A7C3-40CD-9C11-0C03A222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2F4FC8E-E3BC-4394-2C58-364A7866D56E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02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Exploratory data analysis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F0B367-5DFD-8041-1E40-09E87D3D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" y="3881719"/>
            <a:ext cx="3682566" cy="20235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132872-B9D4-9665-BFF9-3BD1C7A53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309" y="2702082"/>
            <a:ext cx="3138264" cy="18328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B53A95-3352-4181-A184-3D0E64AA0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166" y="4600622"/>
            <a:ext cx="7488234" cy="218649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11D20A-4C91-BA92-C2E7-79E5432F3E6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222836" y="2992582"/>
            <a:ext cx="526473" cy="62594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42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D044-C704-4974-935B-AE3D7EFC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13"/>
            <a:ext cx="10515600" cy="916813"/>
          </a:xfrm>
        </p:spPr>
        <p:txBody>
          <a:bodyPr/>
          <a:lstStyle/>
          <a:p>
            <a:r>
              <a:rPr lang="en-US" b="1" dirty="0"/>
              <a:t>Feature </a:t>
            </a:r>
            <a:r>
              <a:rPr lang="en-US" b="1" dirty="0" err="1"/>
              <a:t>importances</a:t>
            </a:r>
            <a:endParaRPr lang="en-US" b="1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672774E-BCBF-4B44-9E79-28E9153A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8FAD6D3-B1FB-463D-87D0-FA9A4AEA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5843A7-CBF3-441B-919C-8467B2BB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ACAAF-A017-6425-27D3-79C3EB49E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9358"/>
            <a:ext cx="12192000" cy="32486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3BC32C-25AF-20BE-6FB4-CFD8BBC8C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0762"/>
            <a:ext cx="12192000" cy="31937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E384BC-2098-59BD-F968-1EEAE61A4042}"/>
              </a:ext>
            </a:extLst>
          </p:cNvPr>
          <p:cNvSpPr txBox="1"/>
          <p:nvPr/>
        </p:nvSpPr>
        <p:spPr>
          <a:xfrm>
            <a:off x="565727" y="3598763"/>
            <a:ext cx="367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LightGBM</a:t>
            </a:r>
            <a:r>
              <a:rPr lang="en-US" b="1" dirty="0"/>
              <a:t> Feature </a:t>
            </a:r>
            <a:r>
              <a:rPr lang="en-US" b="1" dirty="0" err="1"/>
              <a:t>Importances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82BEE-34B1-29A0-2723-45FA73706903}"/>
              </a:ext>
            </a:extLst>
          </p:cNvPr>
          <p:cNvSpPr txBox="1"/>
          <p:nvPr/>
        </p:nvSpPr>
        <p:spPr>
          <a:xfrm>
            <a:off x="565726" y="780762"/>
            <a:ext cx="347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XGBoost</a:t>
            </a:r>
            <a:r>
              <a:rPr lang="en-US" b="1" dirty="0"/>
              <a:t> Feature </a:t>
            </a:r>
            <a:r>
              <a:rPr lang="en-US" b="1" dirty="0" err="1"/>
              <a:t>Importances</a:t>
            </a:r>
            <a:r>
              <a:rPr lang="en-US" b="1" dirty="0"/>
              <a:t> 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D67EF-E811-DAC8-E608-AA3F1033FC13}"/>
              </a:ext>
            </a:extLst>
          </p:cNvPr>
          <p:cNvSpPr txBox="1"/>
          <p:nvPr/>
        </p:nvSpPr>
        <p:spPr>
          <a:xfrm>
            <a:off x="7952510" y="1136529"/>
            <a:ext cx="3673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3 most important features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freq_top_pack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frequence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357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981" y="1736293"/>
            <a:ext cx="6007389" cy="1204912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5981" y="3623827"/>
            <a:ext cx="6557819" cy="2213553"/>
          </a:xfrm>
        </p:spPr>
        <p:txBody>
          <a:bodyPr>
            <a:normAutofit/>
          </a:bodyPr>
          <a:lstStyle/>
          <a:p>
            <a:r>
              <a:rPr lang="en-US" sz="1800" dirty="0"/>
              <a:t>The number of times customers are active per 90 days and the number of times customers activated their top packages were huge determinants of their likelihood of churn. </a:t>
            </a:r>
          </a:p>
          <a:p>
            <a:r>
              <a:rPr lang="en-US" sz="1800" dirty="0"/>
              <a:t>Expresso may therefore explore these further by engaging customers to understand them and develop strategies to increase active days and improve top packages to reduce churn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CC184-1096-457B-AB72-BD49E6E54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Kwame Otchere</a:t>
            </a:r>
          </a:p>
          <a:p>
            <a:r>
              <a:rPr lang="en-US" dirty="0"/>
              <a:t>kodoi270@gmail.com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637DEDF5-3FCD-4BC2-86A5-7BE2BF01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18C3C97-444D-4600-8553-B9C4C1F8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EXPRESSO CUSTOMER CHURN PREDICTION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48E9129-4CC6-47BA-ACD8-2C632A8660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420882-1CC0-49B4-8DDE-24EC2668750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5464175"/>
            <a:ext cx="1844675" cy="3429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President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0714D4-1A7C-4D7F-A5C0-4F766382B6A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5084763"/>
            <a:ext cx="2330450" cy="3429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MIRJAM NILSSON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17101B-2009-4267-8513-19000E37B1F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5478463"/>
            <a:ext cx="1855788" cy="342900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AEE506-9967-4592-BC98-D3FD3028A8E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874250" y="5084763"/>
            <a:ext cx="2317750" cy="3429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FLORA BERGGREN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0B843D-6615-46EB-A813-BEBD624EC6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347325" y="5478463"/>
            <a:ext cx="1844675" cy="342900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Chief Operations Officer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99A0B0-BDD0-48DA-AA3E-13153E65129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345738" y="5464175"/>
            <a:ext cx="1846262" cy="3429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VP Marketing</a:t>
            </a:r>
          </a:p>
        </p:txBody>
      </p:sp>
    </p:spTree>
    <p:extLst>
      <p:ext uri="{BB962C8B-B14F-4D97-AF65-F5344CB8AC3E}">
        <p14:creationId xmlns:p14="http://schemas.microsoft.com/office/powerpoint/2010/main" val="261930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12BC9D-7B75-BA52-42CB-35081E8F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Links</a:t>
            </a:r>
            <a:endParaRPr lang="en-GB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9D9A5-2C26-B2FA-EBD2-32C862C2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51D8D-F7D0-6B98-09F6-5B71F124215D}"/>
              </a:ext>
            </a:extLst>
          </p:cNvPr>
          <p:cNvSpPr txBox="1"/>
          <p:nvPr/>
        </p:nvSpPr>
        <p:spPr>
          <a:xfrm>
            <a:off x="877455" y="1976582"/>
            <a:ext cx="10476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Notebook:</a:t>
            </a:r>
            <a:r>
              <a:rPr lang="en-GB" dirty="0"/>
              <a:t> https://colab.research.google.com/drive/1_j2cd48zTlXALqvDZF0DswIPfG7yN0RF</a:t>
            </a:r>
          </a:p>
          <a:p>
            <a:r>
              <a:rPr lang="en-GB" b="1" dirty="0"/>
              <a:t>App:</a:t>
            </a:r>
            <a:r>
              <a:rPr lang="en-GB" dirty="0"/>
              <a:t> https://huggingface.co/spaces/KwameOO/Expresso_Customer_Churn_Predictor</a:t>
            </a:r>
          </a:p>
          <a:p>
            <a:r>
              <a:rPr lang="en-GB" b="1" dirty="0"/>
              <a:t>Repo:</a:t>
            </a:r>
            <a:r>
              <a:rPr lang="en-GB" dirty="0"/>
              <a:t> https://github.com/KOdoi-OJ/Expresso-Customer-Churn-Prediction</a:t>
            </a:r>
          </a:p>
        </p:txBody>
      </p:sp>
    </p:spTree>
    <p:extLst>
      <p:ext uri="{BB962C8B-B14F-4D97-AF65-F5344CB8AC3E}">
        <p14:creationId xmlns:p14="http://schemas.microsoft.com/office/powerpoint/2010/main" val="84645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178</TotalTime>
  <Words>288</Words>
  <Application>Microsoft Office PowerPoint</Application>
  <PresentationFormat>Widescreen</PresentationFormat>
  <Paragraphs>49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Office Theme</vt:lpstr>
      <vt:lpstr>EXPRESSO CUSTOMER CHURN PREDICTION</vt:lpstr>
      <vt:lpstr>INTRODUCTION</vt:lpstr>
      <vt:lpstr>PowerPoint Presentation</vt:lpstr>
      <vt:lpstr>Feature importances</vt:lpstr>
      <vt:lpstr>SUMMARY</vt:lpstr>
      <vt:lpstr>THANK YOU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EXPRESSO CUSTOMER CHURN PREDICTION</dc:title>
  <dc:creator>Kwame Odoi Otchere</dc:creator>
  <cp:lastModifiedBy>Kwame Odoi Otchere</cp:lastModifiedBy>
  <cp:revision>8</cp:revision>
  <dcterms:created xsi:type="dcterms:W3CDTF">2023-03-08T23:29:42Z</dcterms:created>
  <dcterms:modified xsi:type="dcterms:W3CDTF">2023-03-14T05:00:04Z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